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0240288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8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576" y="-10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05156"/>
            <a:ext cx="25704245" cy="14902051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481887"/>
            <a:ext cx="22680216" cy="10334331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09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960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71229"/>
            <a:ext cx="26082248" cy="17805173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44846"/>
            <a:ext cx="26082248" cy="9363320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07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94520"/>
            <a:ext cx="12852122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94520"/>
            <a:ext cx="12852122" cy="2715859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0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78913"/>
            <a:ext cx="26082248" cy="82734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92870"/>
            <a:ext cx="12793057" cy="514239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35264"/>
            <a:ext cx="12793057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92870"/>
            <a:ext cx="12856061" cy="514239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35264"/>
            <a:ext cx="12856061" cy="229971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76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4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88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3584"/>
            <a:ext cx="9753280" cy="998754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62959"/>
            <a:ext cx="15309146" cy="30418415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41129"/>
            <a:ext cx="9753280" cy="23789780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17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53584"/>
            <a:ext cx="9753280" cy="9987545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62959"/>
            <a:ext cx="15309146" cy="30418415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841129"/>
            <a:ext cx="9753280" cy="23789780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90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0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78904"/>
            <a:ext cx="6520562" cy="3627421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78904"/>
            <a:ext cx="19183683" cy="3627421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79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78913"/>
            <a:ext cx="26082248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394520"/>
            <a:ext cx="26082248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672756"/>
            <a:ext cx="6804065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A1918-7BD3-4532-905E-A5EF0A7237D5}" type="datetimeFigureOut">
              <a:rPr lang="fr-FR" smtClean="0"/>
              <a:t>04/03/2026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672756"/>
            <a:ext cx="10206097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672756"/>
            <a:ext cx="6804065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82BE9-C92F-4AF9-9D36-A211B416983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6954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 descr="Une image contenant lign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5451379-98B0-3DA4-FCE4-0E34014E2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8" y="10189029"/>
            <a:ext cx="11799444" cy="8313246"/>
          </a:xfrm>
          <a:prstGeom prst="rect">
            <a:avLst/>
          </a:prstGeom>
        </p:spPr>
      </p:pic>
      <p:pic>
        <p:nvPicPr>
          <p:cNvPr id="15" name="Image 14" descr="Une image contenant lign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12B9422-F867-BE10-9892-CE010E71F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5716" y="10189029"/>
            <a:ext cx="11799444" cy="8313246"/>
          </a:xfrm>
          <a:prstGeom prst="rect">
            <a:avLst/>
          </a:prstGeom>
        </p:spPr>
      </p:pic>
      <p:pic>
        <p:nvPicPr>
          <p:cNvPr id="17" name="Image 1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6254C09-91FD-EE18-6054-D2A0E1D80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5214" y="9336531"/>
            <a:ext cx="5329860" cy="916574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2AC1E66-853D-D90C-FCAE-0427BA86FD75}"/>
              </a:ext>
            </a:extLst>
          </p:cNvPr>
          <p:cNvSpPr txBox="1"/>
          <p:nvPr/>
        </p:nvSpPr>
        <p:spPr>
          <a:xfrm>
            <a:off x="13147870" y="8475091"/>
            <a:ext cx="403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Segoe UI Variable Text" pitchFamily="2" charset="0"/>
              </a:rPr>
              <a:t>Régions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352C738-9018-A9F0-BD73-0B90AF1B0729}"/>
              </a:ext>
            </a:extLst>
          </p:cNvPr>
          <p:cNvSpPr txBox="1"/>
          <p:nvPr/>
        </p:nvSpPr>
        <p:spPr>
          <a:xfrm>
            <a:off x="1197170" y="6957225"/>
            <a:ext cx="27940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Analyse par région</a:t>
            </a:r>
          </a:p>
        </p:txBody>
      </p:sp>
      <p:pic>
        <p:nvPicPr>
          <p:cNvPr id="1028" name="Picture 4" descr="Girl ">
            <a:extLst>
              <a:ext uri="{FF2B5EF4-FFF2-40B4-BE49-F238E27FC236}">
                <a16:creationId xmlns:a16="http://schemas.microsoft.com/office/drawing/2014/main" id="{0D76A802-BEE9-35BB-5EC5-B470F777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652" y="6127090"/>
            <a:ext cx="3524064" cy="35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y ">
            <a:extLst>
              <a:ext uri="{FF2B5EF4-FFF2-40B4-BE49-F238E27FC236}">
                <a16:creationId xmlns:a16="http://schemas.microsoft.com/office/drawing/2014/main" id="{681196B7-A51A-249A-C7EF-476FC9E1B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624" y="6127090"/>
            <a:ext cx="3524064" cy="352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A86D76C5-C582-C273-D5CF-5D5D52B8E33D}"/>
              </a:ext>
            </a:extLst>
          </p:cNvPr>
          <p:cNvSpPr txBox="1"/>
          <p:nvPr/>
        </p:nvSpPr>
        <p:spPr>
          <a:xfrm>
            <a:off x="283173" y="20151989"/>
            <a:ext cx="296739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En France 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4BB92D6-126C-CE4D-EE81-B43FE265FBA2}"/>
              </a:ext>
            </a:extLst>
          </p:cNvPr>
          <p:cNvSpPr txBox="1"/>
          <p:nvPr/>
        </p:nvSpPr>
        <p:spPr>
          <a:xfrm>
            <a:off x="569717" y="30158029"/>
            <a:ext cx="291008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Segoe UI Variable Text" pitchFamily="2" charset="0"/>
              </a:rPr>
              <a:t>Comparaison filles – garçons 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41DD31D-72CA-8C6C-D790-FB4C45D9E919}"/>
              </a:ext>
            </a:extLst>
          </p:cNvPr>
          <p:cNvSpPr txBox="1"/>
          <p:nvPr/>
        </p:nvSpPr>
        <p:spPr>
          <a:xfrm>
            <a:off x="-27391" y="-12318"/>
            <a:ext cx="30240287" cy="5601533"/>
          </a:xfrm>
          <a:prstGeom prst="rect">
            <a:avLst/>
          </a:prstGeom>
          <a:gradFill flip="none" rotWithShape="1">
            <a:gsLst>
              <a:gs pos="0">
                <a:srgbClr val="718FC4">
                  <a:shade val="30000"/>
                  <a:satMod val="115000"/>
                </a:srgbClr>
              </a:gs>
              <a:gs pos="50000">
                <a:srgbClr val="718FC4">
                  <a:shade val="67500"/>
                  <a:satMod val="115000"/>
                </a:srgbClr>
              </a:gs>
              <a:gs pos="100000">
                <a:srgbClr val="718FC4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718FC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600" dirty="0">
                <a:latin typeface="Brix Slab Bold" panose="02000000000000000000" pitchFamily="50" charset="0"/>
              </a:rPr>
              <a:t>Adolescence et obésité</a:t>
            </a:r>
          </a:p>
          <a:p>
            <a:pPr algn="ctr"/>
            <a:r>
              <a:rPr lang="fr-FR" sz="9600" dirty="0">
                <a:latin typeface="Brix Slab Bold" panose="02000000000000000000" pitchFamily="50" charset="0"/>
              </a:rPr>
              <a:t>Proportion de jeunes de 17 ans </a:t>
            </a:r>
          </a:p>
          <a:p>
            <a:pPr algn="ctr"/>
            <a:r>
              <a:rPr lang="fr-FR" sz="9600" dirty="0">
                <a:latin typeface="Brix Slab Bold" panose="02000000000000000000" pitchFamily="50" charset="0"/>
              </a:rPr>
              <a:t>en situation d’obésité (IMC &gt; 30)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C40F5854-CD00-56D5-4C5F-39DB6170EF66}"/>
              </a:ext>
            </a:extLst>
          </p:cNvPr>
          <p:cNvSpPr txBox="1"/>
          <p:nvPr/>
        </p:nvSpPr>
        <p:spPr>
          <a:xfrm>
            <a:off x="24215438" y="41263776"/>
            <a:ext cx="5551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3600" i="1" dirty="0">
                <a:latin typeface="Segoe UI Variable Text" pitchFamily="2" charset="0"/>
              </a:rPr>
              <a:t>Source :</a:t>
            </a:r>
          </a:p>
          <a:p>
            <a:pPr algn="r"/>
            <a:r>
              <a:rPr lang="fr-FR" sz="3600" i="1">
                <a:latin typeface="Segoe UI Variable Text" pitchFamily="2" charset="0"/>
              </a:rPr>
              <a:t>OFDT </a:t>
            </a:r>
            <a:r>
              <a:rPr lang="fr-FR" sz="3600" i="1" dirty="0">
                <a:latin typeface="Segoe UI Variable Text" pitchFamily="2" charset="0"/>
              </a:rPr>
              <a:t>– Enquête ESCAPAD  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AAF37184-51A1-C618-14CF-2981C1CDA763}"/>
              </a:ext>
            </a:extLst>
          </p:cNvPr>
          <p:cNvSpPr txBox="1"/>
          <p:nvPr/>
        </p:nvSpPr>
        <p:spPr>
          <a:xfrm>
            <a:off x="569717" y="41263776"/>
            <a:ext cx="38243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i="1" dirty="0">
                <a:latin typeface="Segoe UI Variable Text" pitchFamily="2" charset="0"/>
              </a:rPr>
              <a:t>Auteur :</a:t>
            </a:r>
          </a:p>
          <a:p>
            <a:r>
              <a:rPr lang="fr-FR" sz="3600" i="1" dirty="0" err="1">
                <a:latin typeface="Segoe UI Variable Text" pitchFamily="2" charset="0"/>
              </a:rPr>
              <a:t>Youenn</a:t>
            </a:r>
            <a:r>
              <a:rPr lang="fr-FR" sz="3600" i="1" dirty="0">
                <a:latin typeface="Segoe UI Variable Text" pitchFamily="2" charset="0"/>
              </a:rPr>
              <a:t> MARTIN</a:t>
            </a:r>
          </a:p>
        </p:txBody>
      </p:sp>
      <p:pic>
        <p:nvPicPr>
          <p:cNvPr id="7" name="Image 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53F41F0D-6E3F-44AA-89AE-095A9A4030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03314" y="21565989"/>
            <a:ext cx="14711845" cy="7269135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01F2D72A-6E41-35E1-CD1C-FE5BA57C15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27" y="21567094"/>
            <a:ext cx="14711845" cy="7268030"/>
          </a:xfrm>
          <a:prstGeom prst="rect">
            <a:avLst/>
          </a:prstGeom>
        </p:spPr>
      </p:pic>
      <p:pic>
        <p:nvPicPr>
          <p:cNvPr id="20" name="Image 19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C7196285-52DE-8800-D72A-1B3C246C0B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62" y="31577659"/>
            <a:ext cx="17914962" cy="1019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17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262</TotalTime>
  <Words>37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Brix Slab Bold</vt:lpstr>
      <vt:lpstr>Calibri</vt:lpstr>
      <vt:lpstr>Calibri Light</vt:lpstr>
      <vt:lpstr>Segoe UI Variable Text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33638782428</dc:creator>
  <cp:lastModifiedBy>33638782428</cp:lastModifiedBy>
  <cp:revision>3</cp:revision>
  <dcterms:created xsi:type="dcterms:W3CDTF">2026-02-27T13:04:15Z</dcterms:created>
  <dcterms:modified xsi:type="dcterms:W3CDTF">2026-03-04T12:38:45Z</dcterms:modified>
</cp:coreProperties>
</file>