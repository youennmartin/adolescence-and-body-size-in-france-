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0240288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CB8D"/>
    <a:srgbClr val="718FC4"/>
    <a:srgbClr val="EAC2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820" y="-3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7005156"/>
            <a:ext cx="25704245" cy="14902051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481887"/>
            <a:ext cx="22680216" cy="10334331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09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96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671229"/>
            <a:ext cx="26082248" cy="17805173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644846"/>
            <a:ext cx="26082248" cy="9363320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07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394520"/>
            <a:ext cx="12852122" cy="27158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394520"/>
            <a:ext cx="12852122" cy="27158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902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78913"/>
            <a:ext cx="26082248" cy="82734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492870"/>
            <a:ext cx="12793057" cy="5142393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635264"/>
            <a:ext cx="12793057" cy="229971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492870"/>
            <a:ext cx="12856061" cy="5142393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635264"/>
            <a:ext cx="12856061" cy="229971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76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4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788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3584"/>
            <a:ext cx="9753280" cy="9987545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162959"/>
            <a:ext cx="15309146" cy="30418415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41129"/>
            <a:ext cx="9753280" cy="23789780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17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3584"/>
            <a:ext cx="9753280" cy="9987545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162959"/>
            <a:ext cx="15309146" cy="30418415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41129"/>
            <a:ext cx="9753280" cy="23789780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90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00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278904"/>
            <a:ext cx="6520562" cy="3627421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278904"/>
            <a:ext cx="19183683" cy="3627421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79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278913"/>
            <a:ext cx="26082248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394520"/>
            <a:ext cx="26082248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9672756"/>
            <a:ext cx="6804065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9672756"/>
            <a:ext cx="10206097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9672756"/>
            <a:ext cx="6804065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6954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6254C09-91FD-EE18-6054-D2A0E1D80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214" y="9336531"/>
            <a:ext cx="5329860" cy="916574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42AC1E66-853D-D90C-FCAE-0427BA86FD75}"/>
              </a:ext>
            </a:extLst>
          </p:cNvPr>
          <p:cNvSpPr txBox="1"/>
          <p:nvPr/>
        </p:nvSpPr>
        <p:spPr>
          <a:xfrm>
            <a:off x="13147870" y="8475091"/>
            <a:ext cx="403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Segoe UI Variable Text" pitchFamily="2" charset="0"/>
              </a:rPr>
              <a:t>Régions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352C738-9018-A9F0-BD73-0B90AF1B0729}"/>
              </a:ext>
            </a:extLst>
          </p:cNvPr>
          <p:cNvSpPr txBox="1"/>
          <p:nvPr/>
        </p:nvSpPr>
        <p:spPr>
          <a:xfrm>
            <a:off x="1197170" y="6957225"/>
            <a:ext cx="27940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latin typeface="Segoe UI Variable Text" pitchFamily="2" charset="0"/>
              </a:rPr>
              <a:t>Analyse par région</a:t>
            </a:r>
          </a:p>
        </p:txBody>
      </p:sp>
      <p:pic>
        <p:nvPicPr>
          <p:cNvPr id="1028" name="Picture 4" descr="Girl ">
            <a:extLst>
              <a:ext uri="{FF2B5EF4-FFF2-40B4-BE49-F238E27FC236}">
                <a16:creationId xmlns:a16="http://schemas.microsoft.com/office/drawing/2014/main" id="{0D76A802-BEE9-35BB-5EC5-B470F777D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652" y="6127090"/>
            <a:ext cx="3524064" cy="352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oy ">
            <a:extLst>
              <a:ext uri="{FF2B5EF4-FFF2-40B4-BE49-F238E27FC236}">
                <a16:creationId xmlns:a16="http://schemas.microsoft.com/office/drawing/2014/main" id="{681196B7-A51A-249A-C7EF-476FC9E1B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624" y="6127090"/>
            <a:ext cx="3524064" cy="352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A86D76C5-C582-C273-D5CF-5D5D52B8E33D}"/>
              </a:ext>
            </a:extLst>
          </p:cNvPr>
          <p:cNvSpPr txBox="1"/>
          <p:nvPr/>
        </p:nvSpPr>
        <p:spPr>
          <a:xfrm>
            <a:off x="283173" y="20151989"/>
            <a:ext cx="296739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latin typeface="Segoe UI Variable Text" pitchFamily="2" charset="0"/>
              </a:rPr>
              <a:t>En France 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4BB92D6-126C-CE4D-EE81-B43FE265FBA2}"/>
              </a:ext>
            </a:extLst>
          </p:cNvPr>
          <p:cNvSpPr txBox="1"/>
          <p:nvPr/>
        </p:nvSpPr>
        <p:spPr>
          <a:xfrm>
            <a:off x="569717" y="30158029"/>
            <a:ext cx="291008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latin typeface="Segoe UI Variable Text" pitchFamily="2" charset="0"/>
              </a:rPr>
              <a:t>Comparaison filles – garçons 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41DD31D-72CA-8C6C-D790-FB4C45D9E919}"/>
              </a:ext>
            </a:extLst>
          </p:cNvPr>
          <p:cNvSpPr txBox="1"/>
          <p:nvPr/>
        </p:nvSpPr>
        <p:spPr>
          <a:xfrm>
            <a:off x="-27391" y="-12318"/>
            <a:ext cx="30240287" cy="5601533"/>
          </a:xfrm>
          <a:prstGeom prst="rect">
            <a:avLst/>
          </a:prstGeom>
          <a:gradFill flip="none" rotWithShape="1">
            <a:gsLst>
              <a:gs pos="23000">
                <a:schemeClr val="tx2">
                  <a:lumMod val="50000"/>
                  <a:alpha val="21000"/>
                </a:schemeClr>
              </a:gs>
              <a:gs pos="14000">
                <a:srgbClr val="E5CB8D">
                  <a:shade val="67500"/>
                  <a:satMod val="115000"/>
                </a:srgbClr>
              </a:gs>
              <a:gs pos="100000">
                <a:srgbClr val="E5CB8D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rgbClr val="E5CB8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600" dirty="0">
                <a:latin typeface="Brix Slab Bold" panose="02000000000000000000" pitchFamily="50" charset="0"/>
              </a:rPr>
              <a:t>Adolescence et maigreur</a:t>
            </a:r>
          </a:p>
          <a:p>
            <a:pPr algn="ctr"/>
            <a:r>
              <a:rPr lang="fr-FR" sz="9600" dirty="0">
                <a:latin typeface="Brix Slab Bold" panose="02000000000000000000" pitchFamily="50" charset="0"/>
              </a:rPr>
              <a:t>Proportion de jeunes de 17 ans </a:t>
            </a:r>
          </a:p>
          <a:p>
            <a:pPr algn="ctr"/>
            <a:r>
              <a:rPr lang="fr-FR" sz="9600" dirty="0">
                <a:latin typeface="Brix Slab Bold" panose="02000000000000000000" pitchFamily="50" charset="0"/>
              </a:rPr>
              <a:t>en situation de maigreur (IMC &lt; 18.5)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C40F5854-CD00-56D5-4C5F-39DB6170EF66}"/>
              </a:ext>
            </a:extLst>
          </p:cNvPr>
          <p:cNvSpPr txBox="1"/>
          <p:nvPr/>
        </p:nvSpPr>
        <p:spPr>
          <a:xfrm>
            <a:off x="24269701" y="41263776"/>
            <a:ext cx="5970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i="1" dirty="0">
                <a:latin typeface="Segoe UI Variable Text" pitchFamily="2" charset="0"/>
              </a:rPr>
              <a:t>Source :</a:t>
            </a:r>
          </a:p>
          <a:p>
            <a:r>
              <a:rPr lang="fr-FR" sz="3600" i="1">
                <a:latin typeface="Segoe UI Variable Text" pitchFamily="2" charset="0"/>
              </a:rPr>
              <a:t>OFDT </a:t>
            </a:r>
            <a:r>
              <a:rPr lang="fr-FR" sz="3600" i="1" dirty="0">
                <a:latin typeface="Segoe UI Variable Text" pitchFamily="2" charset="0"/>
              </a:rPr>
              <a:t>– Enquête ESCAPAD  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AF37184-51A1-C618-14CF-2981C1CDA763}"/>
              </a:ext>
            </a:extLst>
          </p:cNvPr>
          <p:cNvSpPr txBox="1"/>
          <p:nvPr/>
        </p:nvSpPr>
        <p:spPr>
          <a:xfrm>
            <a:off x="569717" y="41263776"/>
            <a:ext cx="3824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i="1" dirty="0">
                <a:latin typeface="Segoe UI Variable Text" pitchFamily="2" charset="0"/>
              </a:rPr>
              <a:t>Auteur :</a:t>
            </a:r>
          </a:p>
          <a:p>
            <a:r>
              <a:rPr lang="fr-FR" sz="3600" i="1" dirty="0" err="1">
                <a:latin typeface="Segoe UI Variable Text" pitchFamily="2" charset="0"/>
              </a:rPr>
              <a:t>Youenn</a:t>
            </a:r>
            <a:r>
              <a:rPr lang="fr-FR" sz="3600" i="1" dirty="0">
                <a:latin typeface="Segoe UI Variable Text" pitchFamily="2" charset="0"/>
              </a:rPr>
              <a:t> MARTIN</a:t>
            </a:r>
          </a:p>
        </p:txBody>
      </p:sp>
      <p:pic>
        <p:nvPicPr>
          <p:cNvPr id="5" name="Image 4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2177223F-AAD3-3A24-BB29-96F030805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174" y="31577586"/>
            <a:ext cx="17527991" cy="10198173"/>
          </a:xfrm>
          <a:prstGeom prst="rect">
            <a:avLst/>
          </a:prstGeom>
        </p:spPr>
      </p:pic>
      <p:pic>
        <p:nvPicPr>
          <p:cNvPr id="7" name="Image 6" descr="Une image contenant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31BF849A-ACB0-8CE2-0143-98D155320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51944" y="10189029"/>
            <a:ext cx="11763215" cy="8313246"/>
          </a:xfrm>
          <a:prstGeom prst="rect">
            <a:avLst/>
          </a:prstGeom>
        </p:spPr>
      </p:pic>
      <p:pic>
        <p:nvPicPr>
          <p:cNvPr id="9" name="Image 8" descr="Une image contenant ligne, diagramm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4246CF7-DAA3-A80D-B89A-7E54A3D51C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127" y="10189029"/>
            <a:ext cx="11731287" cy="8313246"/>
          </a:xfrm>
          <a:prstGeom prst="rect">
            <a:avLst/>
          </a:prstGeom>
        </p:spPr>
      </p:pic>
      <p:pic>
        <p:nvPicPr>
          <p:cNvPr id="20" name="Image 19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D8826149-E8CB-0A56-7D2F-AD4AA5071D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03314" y="21567094"/>
            <a:ext cx="14711845" cy="7291346"/>
          </a:xfrm>
          <a:prstGeom prst="rect">
            <a:avLst/>
          </a:prstGeom>
        </p:spPr>
      </p:pic>
      <p:pic>
        <p:nvPicPr>
          <p:cNvPr id="22" name="Image 21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24A43970-8FD3-A9FB-B1E7-07B405DC30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130" y="21567094"/>
            <a:ext cx="14711845" cy="729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17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386</TotalTime>
  <Words>38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Brix Slab Bold</vt:lpstr>
      <vt:lpstr>Calibri</vt:lpstr>
      <vt:lpstr>Calibri Light</vt:lpstr>
      <vt:lpstr>Segoe UI Variable Text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33638782428</dc:creator>
  <cp:lastModifiedBy>33638782428</cp:lastModifiedBy>
  <cp:revision>5</cp:revision>
  <dcterms:created xsi:type="dcterms:W3CDTF">2026-02-27T13:04:15Z</dcterms:created>
  <dcterms:modified xsi:type="dcterms:W3CDTF">2026-03-04T12:38:53Z</dcterms:modified>
</cp:coreProperties>
</file>